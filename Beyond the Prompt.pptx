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6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FOR GENERATIVE AI — SEBUAH PERJALANAN INTELEKTUAL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194560"/>
            <a:ext cx="10789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Beyond the Prompt</a:t>
            </a:r>
            <a:endParaRPr lang="en-US" sz="5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749040"/>
            <a:ext cx="9601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400" i="1" dirty="0">
                <a:solidFill>
                  <a:srgbClr val="C9D6E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“Ketika kita mengetik sesuatu ke AI,</a:t>
            </a:r>
            <a:endParaRPr lang="en-US" sz="24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400" i="1" dirty="0">
                <a:solidFill>
                  <a:srgbClr val="C9D6E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apa sebenarnya yang sedang terjadi?”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9811512" y="4480560"/>
            <a:ext cx="3108960" cy="310896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6" name="Shape 4"/>
          <p:cNvSpPr/>
          <p:nvPr/>
        </p:nvSpPr>
        <p:spPr>
          <a:xfrm>
            <a:off x="10817352" y="5486400"/>
            <a:ext cx="1005840" cy="1005840"/>
          </a:xfrm>
          <a:prstGeom prst="ellipse">
            <a:avLst/>
          </a:prstGeom>
          <a:ln w="19050">
            <a:solidFill>
              <a:srgbClr val="C9A22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1000232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/ 20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59436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Berdasarkan buku Prompt Engineering for Generative AI — James Phoenix &amp; Mike Taylor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1 — FONDASI PROMPT ENGINEERING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11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Is Not Magic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1183112" y="-548640"/>
            <a:ext cx="1828800" cy="1828800"/>
          </a:xfrm>
          <a:prstGeom prst="ellipse">
            <a:avLst/>
          </a:prstGeom>
          <a:solidFill>
            <a:srgbClr val="C9D6E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000232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20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16636" y="1920240"/>
            <a:ext cx="2103120" cy="914400"/>
          </a:xfrm>
          <a:prstGeom prst="roundRect">
            <a:avLst>
              <a:gd name="adj" fmla="val 8000"/>
            </a:avLst>
          </a:prstGeom>
          <a:solidFill>
            <a:srgbClr val="111A33"/>
          </a:solidFill>
          <a:ln w="12700">
            <a:solidFill>
              <a:srgbClr val="E1E5ED"/>
            </a:solidFill>
            <a:prstDash val="solid"/>
          </a:ln>
          <a:effectLst>
            <a:outerShdw sx="100000" sy="100000" kx="0" ky="0" algn="bl" rotWithShape="0" blurRad="76200" dist="25400" dir="5400000">
              <a:srgbClr val="1B2230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516636" y="192024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Human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2692908" y="2249424"/>
            <a:ext cx="768096" cy="256032"/>
          </a:xfrm>
          <a:prstGeom prst="rightArrow">
            <a:avLst/>
          </a:prstGeom>
          <a:solidFill>
            <a:srgbClr val="C9A227"/>
          </a:solidFill>
          <a:ln/>
        </p:spPr>
      </p:sp>
      <p:sp>
        <p:nvSpPr>
          <p:cNvPr id="9" name="Shape 7"/>
          <p:cNvSpPr/>
          <p:nvPr/>
        </p:nvSpPr>
        <p:spPr>
          <a:xfrm>
            <a:off x="3534156" y="1920240"/>
            <a:ext cx="2103120" cy="914400"/>
          </a:xfrm>
          <a:prstGeom prst="roundRect">
            <a:avLst>
              <a:gd name="adj" fmla="val 8000"/>
            </a:avLst>
          </a:prstGeom>
          <a:solidFill>
            <a:srgbClr val="1B2A4A"/>
          </a:solidFill>
          <a:ln w="12700">
            <a:solidFill>
              <a:srgbClr val="E1E5ED"/>
            </a:solidFill>
            <a:prstDash val="solid"/>
          </a:ln>
          <a:effectLst>
            <a:outerShdw sx="100000" sy="100000" kx="0" ky="0" algn="bl" rotWithShape="0" blurRad="76200" dist="25400" dir="5400000">
              <a:srgbClr val="1B2230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3534156" y="192024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Prompt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5710428" y="2249424"/>
            <a:ext cx="768096" cy="256032"/>
          </a:xfrm>
          <a:prstGeom prst="rightArrow">
            <a:avLst/>
          </a:prstGeom>
          <a:solidFill>
            <a:srgbClr val="C9A227"/>
          </a:solidFill>
          <a:ln/>
        </p:spPr>
      </p:sp>
      <p:sp>
        <p:nvSpPr>
          <p:cNvPr id="12" name="Shape 10"/>
          <p:cNvSpPr/>
          <p:nvPr/>
        </p:nvSpPr>
        <p:spPr>
          <a:xfrm>
            <a:off x="6551676" y="1920240"/>
            <a:ext cx="2103120" cy="914400"/>
          </a:xfrm>
          <a:prstGeom prst="roundRect">
            <a:avLst>
              <a:gd name="adj" fmla="val 8000"/>
            </a:avLst>
          </a:prstGeom>
          <a:solidFill>
            <a:srgbClr val="111A33"/>
          </a:solidFill>
          <a:ln w="12700">
            <a:solidFill>
              <a:srgbClr val="E1E5ED"/>
            </a:solidFill>
            <a:prstDash val="solid"/>
          </a:ln>
          <a:effectLst>
            <a:outerShdw sx="100000" sy="100000" kx="0" ky="0" algn="bl" rotWithShape="0" blurRad="76200" dist="25400" dir="5400000">
              <a:srgbClr val="1B2230">
                <a:alpha val="12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6551676" y="192024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8727948" y="2249424"/>
            <a:ext cx="768096" cy="256032"/>
          </a:xfrm>
          <a:prstGeom prst="rightArrow">
            <a:avLst/>
          </a:prstGeom>
          <a:solidFill>
            <a:srgbClr val="C9A227"/>
          </a:solidFill>
          <a:ln/>
        </p:spPr>
      </p:sp>
      <p:sp>
        <p:nvSpPr>
          <p:cNvPr id="15" name="Shape 13"/>
          <p:cNvSpPr/>
          <p:nvPr/>
        </p:nvSpPr>
        <p:spPr>
          <a:xfrm>
            <a:off x="9569196" y="1920240"/>
            <a:ext cx="2103120" cy="914400"/>
          </a:xfrm>
          <a:prstGeom prst="roundRect">
            <a:avLst>
              <a:gd name="adj" fmla="val 8000"/>
            </a:avLst>
          </a:prstGeom>
          <a:solidFill>
            <a:srgbClr val="1B2A4A"/>
          </a:solidFill>
          <a:ln w="12700">
            <a:solidFill>
              <a:srgbClr val="E1E5ED"/>
            </a:solidFill>
            <a:prstDash val="solid"/>
          </a:ln>
          <a:effectLst>
            <a:outerShdw sx="100000" sy="100000" kx="0" ky="0" algn="bl" rotWithShape="0" blurRad="76200" dist="25400" dir="5400000">
              <a:srgbClr val="1B2230">
                <a:alpha val="12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9569196" y="192024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Output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1097280" y="3383280"/>
            <a:ext cx="9966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111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Mengapa prompt yang berbeda menghasilkan output yang berbeda?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1554480" y="4297680"/>
            <a:ext cx="905256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1E5ED"/>
            </a:solidFill>
            <a:prstDash val="solid"/>
          </a:ln>
          <a:effectLst>
            <a:outerShdw sx="100000" sy="100000" kx="0" ky="0" algn="bl" rotWithShape="0" blurRad="76200" dist="25400" dir="5400000">
              <a:srgbClr val="1B2230">
                <a:alpha val="12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1828800" y="4480560"/>
            <a:ext cx="8503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bahasa besar tidak “mengerti” dalam artian manusiawi. </a:t>
            </a:r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memprediksi token berikutnya berdasarkan pola statistik dari data pelatihannya. </a:t>
            </a:r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adalah satu-satunya cara kita mengarahkan proses prediksi itu — inilah alasan lahirnya disiplin </a:t>
            </a:r>
            <a:pPr indent="0" marL="0">
              <a:lnSpc>
                <a:spcPct val="120000"/>
              </a:lnSpc>
              <a:buNone/>
            </a:pPr>
            <a:r>
              <a:rPr lang="en-US" sz="1450" b="1" dirty="0">
                <a:solidFill>
                  <a:srgbClr val="11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Engineering.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1 — PROMPT SEBAGAI JEMBATAN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11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Real Problem Is the Interface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1183112" y="-548640"/>
            <a:ext cx="1828800" cy="1828800"/>
          </a:xfrm>
          <a:prstGeom prst="ellipse">
            <a:avLst/>
          </a:prstGeom>
          <a:solidFill>
            <a:srgbClr val="C9D6E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000232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20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9164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bukan sekadar kalimat perintah — ia adalah antarmuka (interface) antara cara berpikir manusia dan cara kerja model.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514600"/>
            <a:ext cx="521208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E3B8B8"/>
            </a:solidFill>
            <a:prstDash val="solid"/>
          </a:ln>
          <a:effectLst>
            <a:outerShdw sx="100000" sy="100000" kx="0" ky="0" algn="bl" rotWithShape="0" blurRad="76200" dist="25400" dir="5400000">
              <a:srgbClr val="1B2230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822960" y="26974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23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 INSTRUCTION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06324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B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“Write something about our product.”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365760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Tanpa objective, audiens, tone, atau batasan — output acak dan tidak dapat diandalkan.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355080" y="2514600"/>
            <a:ext cx="5285232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9FC6A8"/>
            </a:solidFill>
            <a:prstDash val="solid"/>
          </a:ln>
          <a:effectLst>
            <a:outerShdw sx="100000" sy="100000" kx="0" ky="0" algn="bl" rotWithShape="0" blurRad="76200" dist="25400" dir="5400000">
              <a:srgbClr val="1B2230">
                <a:alpha val="12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6629400" y="269748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D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WELL-DESIGNED INSTRUCTION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6629400" y="3063240"/>
            <a:ext cx="4892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i="1" dirty="0">
                <a:solidFill>
                  <a:srgbClr val="1B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“Sebagai copywriter B2B SaaS, tulis 3 paragraf untuk audiens manajer IT, tone profesional-persuasif, tekankan efisiensi biaya.”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4709160"/>
            <a:ext cx="11091672" cy="1417320"/>
          </a:xfrm>
          <a:prstGeom prst="roundRect">
            <a:avLst>
              <a:gd name="adj" fmla="val 5161"/>
            </a:avLst>
          </a:prstGeom>
          <a:solidFill>
            <a:srgbClr val="111A33"/>
          </a:solidFill>
          <a:ln w="12700">
            <a:solidFill>
              <a:srgbClr val="E1E5ED"/>
            </a:solidFill>
            <a:prstDash val="solid"/>
          </a:ln>
          <a:effectLst>
            <a:outerShdw sx="100000" sy="100000" kx="0" ky="0" algn="bl" rotWithShape="0" blurRad="76200" dist="25400" dir="5400000">
              <a:srgbClr val="1B2230">
                <a:alpha val="12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822960" y="4892040"/>
            <a:ext cx="10561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8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 </a:t>
            </a:r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proses merancang dan menyempurnakan instruksi (prompt) secara sistematis agar model AI generatif menghasilkan output yang optimal, relevan, dan dapat diandalkan untuk suatu tujuan tertentu.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PETA KONSEP — FRAMEWORK UTAMA BUKU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11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Five Principles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1183112" y="-548640"/>
            <a:ext cx="1828800" cy="1828800"/>
          </a:xfrm>
          <a:prstGeom prst="ellipse">
            <a:avLst/>
          </a:prstGeom>
          <a:solidFill>
            <a:srgbClr val="C9D6E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000232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20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613916" y="3154680"/>
            <a:ext cx="8961120" cy="0"/>
          </a:xfrm>
          <a:prstGeom prst="line">
            <a:avLst/>
          </a:prstGeom>
          <a:noFill/>
          <a:ln w="38100">
            <a:solidFill>
              <a:srgbClr val="C9D6E7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745236" y="2286000"/>
            <a:ext cx="1737360" cy="1737360"/>
          </a:xfrm>
          <a:prstGeom prst="ellipse">
            <a:avLst/>
          </a:prstGeom>
          <a:solidFill>
            <a:srgbClr val="111A3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45236" y="228600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425196" y="416052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11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Give</a:t>
            </a:r>
            <a:endParaRPr lang="en-US" sz="14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11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Direction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2985516" y="2286000"/>
            <a:ext cx="1737360" cy="1737360"/>
          </a:xfrm>
          <a:prstGeom prst="ellipse">
            <a:avLst/>
          </a:prstGeom>
          <a:solidFill>
            <a:srgbClr val="111A3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2985516" y="228600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2665476" y="416052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11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Specify</a:t>
            </a:r>
            <a:endParaRPr lang="en-US" sz="14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11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Format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5225796" y="2286000"/>
            <a:ext cx="1737360" cy="173736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225796" y="228600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11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400" dirty="0"/>
          </a:p>
        </p:txBody>
      </p:sp>
      <p:sp>
        <p:nvSpPr>
          <p:cNvPr id="15" name="Text 13"/>
          <p:cNvSpPr txBox="1"/>
          <p:nvPr/>
        </p:nvSpPr>
        <p:spPr>
          <a:xfrm>
            <a:off x="4905756" y="416052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11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Provide</a:t>
            </a:r>
            <a:endParaRPr lang="en-US" sz="14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11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Examples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7466076" y="2286000"/>
            <a:ext cx="1737360" cy="1737360"/>
          </a:xfrm>
          <a:prstGeom prst="ellipse">
            <a:avLst/>
          </a:prstGeom>
          <a:solidFill>
            <a:srgbClr val="111A33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466076" y="228600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400" dirty="0"/>
          </a:p>
        </p:txBody>
      </p:sp>
      <p:sp>
        <p:nvSpPr>
          <p:cNvPr id="18" name="Text 16"/>
          <p:cNvSpPr txBox="1"/>
          <p:nvPr/>
        </p:nvSpPr>
        <p:spPr>
          <a:xfrm>
            <a:off x="7146036" y="416052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11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Evaluate</a:t>
            </a:r>
            <a:endParaRPr lang="en-US" sz="14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11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Quality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9706356" y="2286000"/>
            <a:ext cx="1737360" cy="1737360"/>
          </a:xfrm>
          <a:prstGeom prst="ellipse">
            <a:avLst/>
          </a:prstGeom>
          <a:solidFill>
            <a:srgbClr val="111A33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9706356" y="228600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400" dirty="0"/>
          </a:p>
        </p:txBody>
      </p:sp>
      <p:sp>
        <p:nvSpPr>
          <p:cNvPr id="21" name="Text 19"/>
          <p:cNvSpPr txBox="1"/>
          <p:nvPr/>
        </p:nvSpPr>
        <p:spPr>
          <a:xfrm>
            <a:off x="9386316" y="416052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11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Divide</a:t>
            </a:r>
            <a:endParaRPr lang="en-US" sz="14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11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Labor</a:t>
            </a:r>
            <a:endParaRPr lang="en-US" sz="1450" dirty="0"/>
          </a:p>
        </p:txBody>
      </p:sp>
      <p:sp>
        <p:nvSpPr>
          <p:cNvPr id="22" name="Text 20"/>
          <p:cNvSpPr txBox="1"/>
          <p:nvPr/>
        </p:nvSpPr>
        <p:spPr>
          <a:xfrm>
            <a:off x="1371600" y="5212080"/>
            <a:ext cx="9418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Lima prinsip ini adalah kerangka utama buku Prompt Engineering for Generative AI. Setiap prinsip akan kita bedah satu per satu.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PRINSIP PERTAMA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11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 — Give Direction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1183112" y="-548640"/>
            <a:ext cx="1828800" cy="1828800"/>
          </a:xfrm>
          <a:prstGeom prst="ellipse">
            <a:avLst/>
          </a:prstGeom>
          <a:solidFill>
            <a:srgbClr val="C9D6E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000232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20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905256" y="1737360"/>
            <a:ext cx="1965960" cy="685800"/>
          </a:xfrm>
          <a:prstGeom prst="roundRect">
            <a:avLst>
              <a:gd name="adj" fmla="val 10667"/>
            </a:avLst>
          </a:prstGeom>
          <a:solidFill>
            <a:srgbClr val="1B2A4A"/>
          </a:solidFill>
          <a:ln w="12700">
            <a:solidFill>
              <a:srgbClr val="E1E5ED"/>
            </a:solidFill>
            <a:prstDash val="solid"/>
          </a:ln>
          <a:effectLst>
            <a:outerShdw sx="100000" sy="100000" kx="0" ky="0" algn="bl" rotWithShape="0" blurRad="76200" dist="25400" dir="5400000">
              <a:srgbClr val="1B2230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905256" y="1737360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008376" y="1737360"/>
            <a:ext cx="1965960" cy="685800"/>
          </a:xfrm>
          <a:prstGeom prst="roundRect">
            <a:avLst>
              <a:gd name="adj" fmla="val 10667"/>
            </a:avLst>
          </a:prstGeom>
          <a:solidFill>
            <a:srgbClr val="1B2A4A"/>
          </a:solidFill>
          <a:ln w="12700">
            <a:solidFill>
              <a:srgbClr val="E1E5ED"/>
            </a:solidFill>
            <a:prstDash val="solid"/>
          </a:ln>
          <a:effectLst>
            <a:outerShdw sx="100000" sy="100000" kx="0" ky="0" algn="bl" rotWithShape="0" blurRad="76200" dist="25400" dir="5400000">
              <a:srgbClr val="1B2230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3008376" y="1737360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111496" y="1737360"/>
            <a:ext cx="1965960" cy="685800"/>
          </a:xfrm>
          <a:prstGeom prst="roundRect">
            <a:avLst>
              <a:gd name="adj" fmla="val 10667"/>
            </a:avLst>
          </a:prstGeom>
          <a:solidFill>
            <a:srgbClr val="1B2A4A"/>
          </a:solidFill>
          <a:ln w="12700">
            <a:solidFill>
              <a:srgbClr val="E1E5ED"/>
            </a:solidFill>
            <a:prstDash val="solid"/>
          </a:ln>
          <a:effectLst>
            <a:outerShdw sx="100000" sy="100000" kx="0" ky="0" algn="bl" rotWithShape="0" blurRad="76200" dist="25400" dir="5400000">
              <a:srgbClr val="1B2230">
                <a:alpha val="1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5111496" y="1737360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214616" y="1737360"/>
            <a:ext cx="1965960" cy="685800"/>
          </a:xfrm>
          <a:prstGeom prst="roundRect">
            <a:avLst>
              <a:gd name="adj" fmla="val 10667"/>
            </a:avLst>
          </a:prstGeom>
          <a:solidFill>
            <a:srgbClr val="1B2A4A"/>
          </a:solidFill>
          <a:ln w="12700">
            <a:solidFill>
              <a:srgbClr val="E1E5ED"/>
            </a:solidFill>
            <a:prstDash val="solid"/>
          </a:ln>
          <a:effectLst>
            <a:outerShdw sx="100000" sy="100000" kx="0" ky="0" algn="bl" rotWithShape="0" blurRad="76200" dist="25400" dir="5400000">
              <a:srgbClr val="1B2230">
                <a:alpha val="12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7214616" y="1737360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9317736" y="1737360"/>
            <a:ext cx="1965960" cy="685800"/>
          </a:xfrm>
          <a:prstGeom prst="roundRect">
            <a:avLst>
              <a:gd name="adj" fmla="val 10667"/>
            </a:avLst>
          </a:prstGeom>
          <a:solidFill>
            <a:srgbClr val="1B2A4A"/>
          </a:solidFill>
          <a:ln w="12700">
            <a:solidFill>
              <a:srgbClr val="E1E5ED"/>
            </a:solidFill>
            <a:prstDash val="solid"/>
          </a:ln>
          <a:effectLst>
            <a:outerShdw sx="100000" sy="100000" kx="0" ky="0" algn="bl" rotWithShape="0" blurRad="76200" dist="25400" dir="5400000">
              <a:srgbClr val="1B2230">
                <a:alpha val="12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9317736" y="1737360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Definition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2788920"/>
            <a:ext cx="521208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E3B8B8"/>
            </a:solidFill>
            <a:prstDash val="solid"/>
          </a:ln>
          <a:effectLst>
            <a:outerShdw sx="100000" sy="100000" kx="0" ky="0" algn="bl" rotWithShape="0" blurRad="76200" dist="25400" dir="5400000">
              <a:srgbClr val="1B2230">
                <a:alpha val="12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822960" y="2971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23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SEBELUM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329184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1B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“Write an article about AI.”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822960" y="3931920"/>
            <a:ext cx="4663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Tidak ada audiens, tone, panjang, atau sudut pandang. Output generik dan berisiko meleset dari tujuan.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355080" y="2788920"/>
            <a:ext cx="5285232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9FC6A8"/>
            </a:solidFill>
            <a:prstDash val="solid"/>
          </a:ln>
          <a:effectLst>
            <a:outerShdw sx="100000" sy="100000" kx="0" ky="0" algn="bl" rotWithShape="0" blurRad="76200" dist="25400" dir="5400000">
              <a:srgbClr val="1B2230">
                <a:alpha val="12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6629400" y="2971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D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SESUDAH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6629400" y="3291840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i="1" dirty="0">
                <a:solidFill>
                  <a:srgbClr val="1B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“Sebagai peneliti pendidikan, tulis artikel 500 kata untuk dosen tentang risiko bias AI dalam penilaian siswa, tone akademik-reflektif.”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6629400" y="452628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Objective, audiens, scope, dan constraints jelas → output relevan dan terarah.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PRINSIP KEDUA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11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 — Specify Format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1183112" y="-548640"/>
            <a:ext cx="1828800" cy="1828800"/>
          </a:xfrm>
          <a:prstGeom prst="ellipse">
            <a:avLst/>
          </a:prstGeom>
          <a:solidFill>
            <a:srgbClr val="C9D6E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000232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20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4592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111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Output AI bukan hanya soal “apa yang dikatakan”, tetapi juga “bagaimana ia disusun.”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85216" y="2377440"/>
            <a:ext cx="3520440" cy="1234440"/>
          </a:xfrm>
          <a:prstGeom prst="roundRect">
            <a:avLst>
              <a:gd name="adj" fmla="val 5926"/>
            </a:avLst>
          </a:prstGeom>
          <a:solidFill>
            <a:srgbClr val="111A33"/>
          </a:solidFill>
          <a:ln w="12700">
            <a:solidFill>
              <a:srgbClr val="E1E5ED"/>
            </a:solidFill>
            <a:prstDash val="solid"/>
          </a:ln>
          <a:effectLst>
            <a:outerShdw sx="100000" sy="100000" kx="0" ky="0" algn="bl" rotWithShape="0" blurRad="76200" dist="25400" dir="5400000">
              <a:srgbClr val="1B2230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585216" y="2377440"/>
            <a:ext cx="3520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Paragraph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334256" y="2377440"/>
            <a:ext cx="3520440" cy="1234440"/>
          </a:xfrm>
          <a:prstGeom prst="roundRect">
            <a:avLst>
              <a:gd name="adj" fmla="val 5926"/>
            </a:avLst>
          </a:prstGeom>
          <a:solidFill>
            <a:srgbClr val="1B2A4A"/>
          </a:solidFill>
          <a:ln w="12700">
            <a:solidFill>
              <a:srgbClr val="E1E5ED"/>
            </a:solidFill>
            <a:prstDash val="solid"/>
          </a:ln>
          <a:effectLst>
            <a:outerShdw sx="100000" sy="100000" kx="0" ky="0" algn="bl" rotWithShape="0" blurRad="76200" dist="25400" dir="5400000">
              <a:srgbClr val="1B2230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4334256" y="2377440"/>
            <a:ext cx="3520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083296" y="2377440"/>
            <a:ext cx="3520440" cy="1234440"/>
          </a:xfrm>
          <a:prstGeom prst="roundRect">
            <a:avLst>
              <a:gd name="adj" fmla="val 5926"/>
            </a:avLst>
          </a:prstGeom>
          <a:solidFill>
            <a:srgbClr val="111A33"/>
          </a:solidFill>
          <a:ln w="12700">
            <a:solidFill>
              <a:srgbClr val="E1E5ED"/>
            </a:solidFill>
            <a:prstDash val="solid"/>
          </a:ln>
          <a:effectLst>
            <a:outerShdw sx="100000" sy="100000" kx="0" ky="0" algn="bl" rotWithShape="0" blurRad="76200" dist="25400" dir="5400000">
              <a:srgbClr val="1B2230">
                <a:alpha val="12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8083296" y="2377440"/>
            <a:ext cx="3520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85216" y="3840480"/>
            <a:ext cx="3520440" cy="1234440"/>
          </a:xfrm>
          <a:prstGeom prst="roundRect">
            <a:avLst>
              <a:gd name="adj" fmla="val 5926"/>
            </a:avLst>
          </a:prstGeom>
          <a:solidFill>
            <a:srgbClr val="1B2A4A"/>
          </a:solidFill>
          <a:ln w="12700">
            <a:solidFill>
              <a:srgbClr val="E1E5ED"/>
            </a:solidFill>
            <a:prstDash val="solid"/>
          </a:ln>
          <a:effectLst>
            <a:outerShdw sx="100000" sy="100000" kx="0" ky="0" algn="bl" rotWithShape="0" blurRad="76200" dist="25400" dir="5400000">
              <a:srgbClr val="1B2230">
                <a:alpha val="12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585216" y="3840480"/>
            <a:ext cx="3520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334256" y="3840480"/>
            <a:ext cx="3520440" cy="1234440"/>
          </a:xfrm>
          <a:prstGeom prst="roundRect">
            <a:avLst>
              <a:gd name="adj" fmla="val 5926"/>
            </a:avLst>
          </a:prstGeom>
          <a:solidFill>
            <a:srgbClr val="111A33"/>
          </a:solidFill>
          <a:ln w="12700">
            <a:solidFill>
              <a:srgbClr val="E1E5ED"/>
            </a:solidFill>
            <a:prstDash val="solid"/>
          </a:ln>
          <a:effectLst>
            <a:outerShdw sx="100000" sy="100000" kx="0" ky="0" algn="bl" rotWithShape="0" blurRad="76200" dist="25400" dir="5400000">
              <a:srgbClr val="1B2230">
                <a:alpha val="12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4334256" y="3840480"/>
            <a:ext cx="3520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Bullet Points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083296" y="3840480"/>
            <a:ext cx="3520440" cy="1234440"/>
          </a:xfrm>
          <a:prstGeom prst="roundRect">
            <a:avLst>
              <a:gd name="adj" fmla="val 5926"/>
            </a:avLst>
          </a:prstGeom>
          <a:solidFill>
            <a:srgbClr val="1B2A4A"/>
          </a:solidFill>
          <a:ln w="12700">
            <a:solidFill>
              <a:srgbClr val="E1E5ED"/>
            </a:solidFill>
            <a:prstDash val="solid"/>
          </a:ln>
          <a:effectLst>
            <a:outerShdw sx="100000" sy="100000" kx="0" ky="0" algn="bl" rotWithShape="0" blurRad="76200" dist="25400" dir="5400000">
              <a:srgbClr val="1B2230">
                <a:alpha val="12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8083296" y="3840480"/>
            <a:ext cx="3520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Schema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612648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 yang tepat menentukan apakah output AI dapat langsung dipakai oleh aplikasi — bukan hanya dibaca manusia.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PRINSIP KETIGA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11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 — Provide Examples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1183112" y="-548640"/>
            <a:ext cx="1828800" cy="1828800"/>
          </a:xfrm>
          <a:prstGeom prst="ellipse">
            <a:avLst/>
          </a:prstGeom>
          <a:solidFill>
            <a:srgbClr val="C9D6E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000232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20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30936" y="1920240"/>
            <a:ext cx="342900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1E5ED"/>
            </a:solidFill>
            <a:prstDash val="solid"/>
          </a:ln>
          <a:effectLst>
            <a:outerShdw sx="100000" sy="100000" kx="0" ky="0" algn="bl" rotWithShape="0" blurRad="76200" dist="25400" dir="5400000">
              <a:srgbClr val="1B223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025396" y="1600200"/>
            <a:ext cx="640080" cy="64008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2025396" y="1600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630936" y="237744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1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Zero-shot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905256" y="2926080"/>
            <a:ext cx="2880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Tanpa contoh sama sekali.</a:t>
            </a:r>
            <a:endParaRPr lang="en-US" sz="13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mengandalkan pengetahuan umumnya.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379976" y="1920240"/>
            <a:ext cx="342900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1E5ED"/>
            </a:solidFill>
            <a:prstDash val="solid"/>
          </a:ln>
          <a:effectLst>
            <a:outerShdw sx="100000" sy="100000" kx="0" ky="0" algn="bl" rotWithShape="0" blurRad="76200" dist="25400" dir="5400000">
              <a:srgbClr val="1B223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774436" y="1600200"/>
            <a:ext cx="640080" cy="64008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774436" y="1600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4379976" y="237744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1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One-shot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4654296" y="2926080"/>
            <a:ext cx="2880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 contoh diberikan.</a:t>
            </a:r>
            <a:endParaRPr lang="en-US" sz="13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meniru pola dari contoh tersebut.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129016" y="1920240"/>
            <a:ext cx="342900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1E5ED"/>
            </a:solidFill>
            <a:prstDash val="solid"/>
          </a:ln>
          <a:effectLst>
            <a:outerShdw sx="100000" sy="100000" kx="0" ky="0" algn="bl" rotWithShape="0" blurRad="76200" dist="25400" dir="5400000">
              <a:srgbClr val="1B223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9523476" y="1600200"/>
            <a:ext cx="640080" cy="64008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9523476" y="1600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8129016" y="237744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1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Few-shot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8403336" y="2926080"/>
            <a:ext cx="2880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Beberapa contoh diberikan.</a:t>
            </a:r>
            <a:endParaRPr lang="en-US" sz="13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mengenali pola lebih presisi.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45720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i="1" dirty="0">
                <a:solidFill>
                  <a:srgbClr val="11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Eksperimen sederhana: minta AI mengklasifikasikan sentimen ulasan tanpa contoh, lalu dengan 3 contoh. Bandingkan konsistensinya — contoh mengurangi ambiguitas instruksi.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TRADE-OFF, BUKAN FORMULA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11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More Examples ≠ Always Better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1183112" y="-548640"/>
            <a:ext cx="1828800" cy="1828800"/>
          </a:xfrm>
          <a:prstGeom prst="ellipse">
            <a:avLst/>
          </a:prstGeom>
          <a:solidFill>
            <a:srgbClr val="C9D6E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000232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20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5212080" cy="2103120"/>
          </a:xfrm>
          <a:prstGeom prst="roundRect">
            <a:avLst>
              <a:gd name="adj" fmla="val 3478"/>
            </a:avLst>
          </a:prstGeom>
          <a:solidFill>
            <a:srgbClr val="111A33"/>
          </a:solidFill>
          <a:ln w="12700">
            <a:solidFill>
              <a:srgbClr val="E1E5ED"/>
            </a:solidFill>
            <a:prstDash val="solid"/>
          </a:ln>
          <a:effectLst>
            <a:outerShdw sx="100000" sy="100000" kx="0" ky="0" algn="bl" rotWithShape="0" blurRad="76200" dist="25400" dir="5400000">
              <a:srgbClr val="1B2230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822960" y="19202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331720"/>
            <a:ext cx="4663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Semakin banyak contoh → output makin konsisten dan dapat diprediksi, tetapi makin “kaku” dan seragam.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355080" y="1737360"/>
            <a:ext cx="5285232" cy="2103120"/>
          </a:xfrm>
          <a:prstGeom prst="roundRect">
            <a:avLst>
              <a:gd name="adj" fmla="val 3478"/>
            </a:avLst>
          </a:prstGeom>
          <a:solidFill>
            <a:srgbClr val="1B2A4A"/>
          </a:solidFill>
          <a:ln w="12700">
            <a:solidFill>
              <a:srgbClr val="E1E5ED"/>
            </a:solidFill>
            <a:prstDash val="solid"/>
          </a:ln>
          <a:effectLst>
            <a:outerShdw sx="100000" sy="100000" kx="0" ky="0" algn="bl" rotWithShape="0" blurRad="76200" dist="25400" dir="5400000">
              <a:srgbClr val="1B2230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6629400" y="19202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CREATIVITY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629400" y="2331720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Semakin sedikit contoh → model lebih bebas bereksplorasi, tetapi hasil lebih sulit diprediksi.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120640" y="2606040"/>
            <a:ext cx="1920240" cy="320040"/>
          </a:xfrm>
          <a:prstGeom prst="doubleArrow">
            <a:avLst/>
          </a:prstGeom>
          <a:solidFill>
            <a:srgbClr val="C9A227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420624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111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“Apakah Anda ingin AI lebih konsisten atau lebih kreatif?”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1188720" y="5029200"/>
            <a:ext cx="9784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bukan sekadar formula baku — ia adalah optimization problem: menyeimbangkan reliability dan creativity sesuai kebutuhan tugas.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PRINSIP KEEMPAT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11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 — Evaluate Quality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1183112" y="-548640"/>
            <a:ext cx="1828800" cy="1828800"/>
          </a:xfrm>
          <a:prstGeom prst="ellipse">
            <a:avLst/>
          </a:prstGeom>
          <a:solidFill>
            <a:srgbClr val="C9D6E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000232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20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0020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111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“Bagaimana Anda tahu prompt Anda bagus?”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644652" y="2377440"/>
            <a:ext cx="2084832" cy="822960"/>
          </a:xfrm>
          <a:prstGeom prst="roundRect">
            <a:avLst>
              <a:gd name="adj" fmla="val 8889"/>
            </a:avLst>
          </a:prstGeom>
          <a:solidFill>
            <a:srgbClr val="111A33"/>
          </a:solidFill>
          <a:ln w="12700">
            <a:solidFill>
              <a:srgbClr val="E1E5ED"/>
            </a:solidFill>
            <a:prstDash val="solid"/>
          </a:ln>
          <a:effectLst>
            <a:outerShdw sx="100000" sy="100000" kx="0" ky="0" algn="bl" rotWithShape="0" blurRad="76200" dist="25400" dir="5400000">
              <a:srgbClr val="1B2230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90372" y="2377440"/>
            <a:ext cx="19933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2848356" y="2377440"/>
            <a:ext cx="2084832" cy="822960"/>
          </a:xfrm>
          <a:prstGeom prst="roundRect">
            <a:avLst>
              <a:gd name="adj" fmla="val 8889"/>
            </a:avLst>
          </a:prstGeom>
          <a:solidFill>
            <a:srgbClr val="1B2A4A"/>
          </a:solidFill>
          <a:ln w="12700">
            <a:solidFill>
              <a:srgbClr val="E1E5ED"/>
            </a:solidFill>
            <a:prstDash val="solid"/>
          </a:ln>
          <a:effectLst>
            <a:outerShdw sx="100000" sy="100000" kx="0" ky="0" algn="bl" rotWithShape="0" blurRad="76200" dist="25400" dir="5400000">
              <a:srgbClr val="1B2230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2894076" y="2377440"/>
            <a:ext cx="19933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052060" y="2377440"/>
            <a:ext cx="2084832" cy="822960"/>
          </a:xfrm>
          <a:prstGeom prst="roundRect">
            <a:avLst>
              <a:gd name="adj" fmla="val 8889"/>
            </a:avLst>
          </a:prstGeom>
          <a:solidFill>
            <a:srgbClr val="111A33"/>
          </a:solidFill>
          <a:ln w="12700">
            <a:solidFill>
              <a:srgbClr val="E1E5ED"/>
            </a:solidFill>
            <a:prstDash val="solid"/>
          </a:ln>
          <a:effectLst>
            <a:outerShdw sx="100000" sy="100000" kx="0" ky="0" algn="bl" rotWithShape="0" blurRad="76200" dist="25400" dir="5400000">
              <a:srgbClr val="1B2230">
                <a:alpha val="12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5097780" y="2377440"/>
            <a:ext cx="19933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A/B Testing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255764" y="2377440"/>
            <a:ext cx="2084832" cy="822960"/>
          </a:xfrm>
          <a:prstGeom prst="roundRect">
            <a:avLst>
              <a:gd name="adj" fmla="val 8889"/>
            </a:avLst>
          </a:prstGeom>
          <a:solidFill>
            <a:srgbClr val="1B2A4A"/>
          </a:solidFill>
          <a:ln w="12700">
            <a:solidFill>
              <a:srgbClr val="E1E5ED"/>
            </a:solidFill>
            <a:prstDash val="solid"/>
          </a:ln>
          <a:effectLst>
            <a:outerShdw sx="100000" sy="100000" kx="0" ky="0" algn="bl" rotWithShape="0" blurRad="76200" dist="25400" dir="5400000">
              <a:srgbClr val="1B2230">
                <a:alpha val="12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7301484" y="2377440"/>
            <a:ext cx="19933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Pairwise Comparison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9459468" y="2377440"/>
            <a:ext cx="2084832" cy="822960"/>
          </a:xfrm>
          <a:prstGeom prst="roundRect">
            <a:avLst>
              <a:gd name="adj" fmla="val 8889"/>
            </a:avLst>
          </a:prstGeom>
          <a:solidFill>
            <a:srgbClr val="111A33"/>
          </a:solidFill>
          <a:ln w="12700">
            <a:solidFill>
              <a:srgbClr val="E1E5ED"/>
            </a:solidFill>
            <a:prstDash val="solid"/>
          </a:ln>
          <a:effectLst>
            <a:outerShdw sx="100000" sy="100000" kx="0" ky="0" algn="bl" rotWithShape="0" blurRad="76200" dist="25400" dir="5400000">
              <a:srgbClr val="1B2230">
                <a:alpha val="12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9505188" y="2377440"/>
            <a:ext cx="19933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Feedback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1280160" y="3703320"/>
            <a:ext cx="960120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1E5ED"/>
            </a:solidFill>
            <a:prstDash val="solid"/>
          </a:ln>
          <a:effectLst>
            <a:outerShdw sx="100000" sy="100000" kx="0" ky="0" algn="bl" rotWithShape="0" blurRad="76200" dist="25400" dir="5400000">
              <a:srgbClr val="1B2230">
                <a:alpha val="12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1645920" y="3977640"/>
            <a:ext cx="8869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900" b="1" dirty="0">
                <a:solidFill>
                  <a:srgbClr val="B23A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Good prompt ≠ </a:t>
            </a:r>
            <a:pPr indent="0" marL="0">
              <a:lnSpc>
                <a:spcPct val="130000"/>
              </a:lnSpc>
              <a:buNone/>
            </a:pPr>
            <a:r>
              <a:rPr lang="en-US" sz="1900" dirty="0">
                <a:solidFill>
                  <a:srgbClr val="1B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prompt yang terdengar pintar.
</a:t>
            </a:r>
            <a:pPr indent="0" marL="0">
              <a:lnSpc>
                <a:spcPct val="130000"/>
              </a:lnSpc>
              <a:buNone/>
            </a:pPr>
            <a:r>
              <a:rPr lang="en-US" sz="1900" b="1" dirty="0">
                <a:solidFill>
                  <a:srgbClr val="2E7D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Good prompt = </a:t>
            </a:r>
            <a:pPr indent="0" marL="0">
              <a:lnSpc>
                <a:spcPct val="130000"/>
              </a:lnSpc>
              <a:buNone/>
            </a:pPr>
            <a:r>
              <a:rPr lang="en-US" sz="1900" dirty="0">
                <a:solidFill>
                  <a:srgbClr val="1B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prompt yang menghasilkan desired outcome secara reliable, terukur, dan dapat direplikasi.</a:t>
            </a:r>
            <a:endParaRPr lang="en-US" sz="1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DARI SENI MENUJU SAINS EKSPERIMENTAL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11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Prompt Engineering Becomes Data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1183112" y="-548640"/>
            <a:ext cx="1828800" cy="1828800"/>
          </a:xfrm>
          <a:prstGeom prst="ellipse">
            <a:avLst/>
          </a:prstGeom>
          <a:solidFill>
            <a:srgbClr val="C9D6E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000232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20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920240"/>
            <a:ext cx="2081174" cy="777240"/>
          </a:xfrm>
          <a:prstGeom prst="chevron">
            <a:avLst/>
          </a:prstGeom>
          <a:solidFill>
            <a:srgbClr val="111A33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1920240"/>
            <a:ext cx="1873057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94406" y="1920240"/>
            <a:ext cx="2081174" cy="777240"/>
          </a:xfrm>
          <a:prstGeom prst="chevron">
            <a:avLst/>
          </a:prstGeom>
          <a:solidFill>
            <a:srgbClr val="1B2A4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2794406" y="1920240"/>
            <a:ext cx="1873057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040173" y="1920240"/>
            <a:ext cx="2081174" cy="777240"/>
          </a:xfrm>
          <a:prstGeom prst="chevron">
            <a:avLst/>
          </a:prstGeom>
          <a:solidFill>
            <a:srgbClr val="111A3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040173" y="1920240"/>
            <a:ext cx="1873057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285939" y="1920240"/>
            <a:ext cx="2081174" cy="777240"/>
          </a:xfrm>
          <a:prstGeom prst="chevron">
            <a:avLst/>
          </a:prstGeom>
          <a:solidFill>
            <a:srgbClr val="1B2A4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285939" y="1920240"/>
            <a:ext cx="1873057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9531706" y="1920240"/>
            <a:ext cx="2081174" cy="777240"/>
          </a:xfrm>
          <a:prstGeom prst="chevron">
            <a:avLst/>
          </a:prstGeom>
          <a:solidFill>
            <a:srgbClr val="111A33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531706" y="1920240"/>
            <a:ext cx="1873057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30632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Dihubungkan dengan  Python  ·  CSV  ·  Metrics  ·  Experimentation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1463040" y="3794760"/>
            <a:ext cx="9235440" cy="1737360"/>
          </a:xfrm>
          <a:prstGeom prst="roundRect">
            <a:avLst>
              <a:gd name="adj" fmla="val 4211"/>
            </a:avLst>
          </a:prstGeom>
          <a:solidFill>
            <a:srgbClr val="111A33"/>
          </a:solidFill>
          <a:ln w="12700">
            <a:solidFill>
              <a:srgbClr val="E1E5ED"/>
            </a:solidFill>
            <a:prstDash val="solid"/>
          </a:ln>
          <a:effectLst>
            <a:outerShdw sx="100000" sy="100000" kx="0" ky="0" algn="bl" rotWithShape="0" blurRad="76200" dist="25400" dir="5400000">
              <a:srgbClr val="1B2230">
                <a:alpha val="12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1828800" y="4069080"/>
            <a:ext cx="8503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22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“Prompt engineering mulai menyerupai experimental science.”</a:t>
            </a:r>
            <a:endParaRPr lang="en-US" sz="2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PRINSIP KELIMA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11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 — Divide Labor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1183112" y="-548640"/>
            <a:ext cx="1828800" cy="1828800"/>
          </a:xfrm>
          <a:prstGeom prst="ellipse">
            <a:avLst/>
          </a:prstGeom>
          <a:solidFill>
            <a:srgbClr val="C9D6E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000232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20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4592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111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Tidak semua pekerjaan harus dipaksakan dalam satu prompt tunggal.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4652" y="2377440"/>
            <a:ext cx="2084832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1E5ED"/>
            </a:solidFill>
            <a:prstDash val="solid"/>
          </a:ln>
          <a:effectLst>
            <a:outerShdw sx="100000" sy="100000" kx="0" ky="0" algn="bl" rotWithShape="0" blurRad="76200" dist="25400" dir="5400000">
              <a:srgbClr val="1B223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394460" y="2606040"/>
            <a:ext cx="585216" cy="585216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394460" y="260604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90372" y="3337560"/>
            <a:ext cx="1993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1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2848356" y="2377440"/>
            <a:ext cx="2084832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1E5ED"/>
            </a:solidFill>
            <a:prstDash val="solid"/>
          </a:ln>
          <a:effectLst>
            <a:outerShdw sx="100000" sy="100000" kx="0" ky="0" algn="bl" rotWithShape="0" blurRad="76200" dist="25400" dir="5400000">
              <a:srgbClr val="1B223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598164" y="2606040"/>
            <a:ext cx="585216" cy="585216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598164" y="260604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2894076" y="3337560"/>
            <a:ext cx="1993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1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5052060" y="2377440"/>
            <a:ext cx="2084832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1E5ED"/>
            </a:solidFill>
            <a:prstDash val="solid"/>
          </a:ln>
          <a:effectLst>
            <a:outerShdw sx="100000" sy="100000" kx="0" ky="0" algn="bl" rotWithShape="0" blurRad="76200" dist="25400" dir="5400000">
              <a:srgbClr val="1B223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801868" y="2606040"/>
            <a:ext cx="585216" cy="585216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801868" y="260604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5097780" y="3337560"/>
            <a:ext cx="1993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1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7255764" y="2377440"/>
            <a:ext cx="2084832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1E5ED"/>
            </a:solidFill>
            <a:prstDash val="solid"/>
          </a:ln>
          <a:effectLst>
            <a:outerShdw sx="100000" sy="100000" kx="0" ky="0" algn="bl" rotWithShape="0" blurRad="76200" dist="25400" dir="5400000">
              <a:srgbClr val="1B223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005572" y="2606040"/>
            <a:ext cx="585216" cy="585216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005572" y="260604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7301484" y="3337560"/>
            <a:ext cx="1993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1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Editing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9459468" y="2377440"/>
            <a:ext cx="2084832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1E5ED"/>
            </a:solidFill>
            <a:prstDash val="solid"/>
          </a:ln>
          <a:effectLst>
            <a:outerShdw sx="100000" sy="100000" kx="0" ky="0" algn="bl" rotWithShape="0" blurRad="76200" dist="25400" dir="5400000">
              <a:srgbClr val="1B223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10209276" y="2606040"/>
            <a:ext cx="585216" cy="585216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10209276" y="260604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9505188" y="3337560"/>
            <a:ext cx="1993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1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 Checking</a:t>
            </a:r>
            <a:endParaRPr lang="en-US" sz="1350" dirty="0"/>
          </a:p>
        </p:txBody>
      </p:sp>
      <p:sp>
        <p:nvSpPr>
          <p:cNvPr id="27" name="Shape 25"/>
          <p:cNvSpPr/>
          <p:nvPr/>
        </p:nvSpPr>
        <p:spPr>
          <a:xfrm>
            <a:off x="1280160" y="4572000"/>
            <a:ext cx="9601200" cy="1188720"/>
          </a:xfrm>
          <a:prstGeom prst="roundRect">
            <a:avLst>
              <a:gd name="adj" fmla="val 6154"/>
            </a:avLst>
          </a:prstGeom>
          <a:solidFill>
            <a:srgbClr val="1B2A4A"/>
          </a:solidFill>
          <a:ln w="12700">
            <a:solidFill>
              <a:srgbClr val="E1E5ED"/>
            </a:solidFill>
            <a:prstDash val="solid"/>
          </a:ln>
          <a:effectLst>
            <a:outerShdw sx="100000" sy="100000" kx="0" ky="0" algn="bl" rotWithShape="0" blurRad="76200" dist="25400" dir="5400000">
              <a:srgbClr val="1B2230">
                <a:alpha val="12000"/>
              </a:srgbClr>
            </a:outerShdw>
          </a:effectLst>
        </p:spPr>
      </p:sp>
      <p:sp>
        <p:nvSpPr>
          <p:cNvPr id="28" name="Text 26"/>
          <p:cNvSpPr txBox="1"/>
          <p:nvPr/>
        </p:nvSpPr>
        <p:spPr>
          <a:xfrm>
            <a:off x="1554480" y="4754880"/>
            <a:ext cx="9052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Decomposition  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memecah tugas kompleks menjadi unit-unit kecil yang masing-masing dikerjakan oleh prompt terpisah, agar setiap tahap lebih mudah dikontrol dan dievaluasi.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MENGHUBUNGKAN UNIT-UNIT KECIL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11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Prompt to Prompt Chain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1183112" y="-548640"/>
            <a:ext cx="1828800" cy="1828800"/>
          </a:xfrm>
          <a:prstGeom prst="ellipse">
            <a:avLst/>
          </a:prstGeom>
          <a:solidFill>
            <a:srgbClr val="C9D6E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000232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20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2103120"/>
            <a:ext cx="1706880" cy="777240"/>
          </a:xfrm>
          <a:prstGeom prst="chevron">
            <a:avLst/>
          </a:prstGeom>
          <a:solidFill>
            <a:srgbClr val="111A33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2103120"/>
            <a:ext cx="15361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420112" y="2103120"/>
            <a:ext cx="1706880" cy="777240"/>
          </a:xfrm>
          <a:prstGeom prst="chevron">
            <a:avLst/>
          </a:prstGeom>
          <a:solidFill>
            <a:srgbClr val="1B2A4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2420112" y="2103120"/>
            <a:ext cx="15361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291584" y="2103120"/>
            <a:ext cx="1706880" cy="777240"/>
          </a:xfrm>
          <a:prstGeom prst="chevron">
            <a:avLst/>
          </a:prstGeom>
          <a:solidFill>
            <a:srgbClr val="111A3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291584" y="2103120"/>
            <a:ext cx="15361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163056" y="2103120"/>
            <a:ext cx="1706880" cy="777240"/>
          </a:xfrm>
          <a:prstGeom prst="chevron">
            <a:avLst/>
          </a:prstGeom>
          <a:solidFill>
            <a:srgbClr val="1B2A4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163056" y="2103120"/>
            <a:ext cx="15361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034528" y="2103120"/>
            <a:ext cx="1706880" cy="777240"/>
          </a:xfrm>
          <a:prstGeom prst="chevron">
            <a:avLst/>
          </a:prstGeom>
          <a:solidFill>
            <a:srgbClr val="111A33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034528" y="2103120"/>
            <a:ext cx="15361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9906000" y="2103120"/>
            <a:ext cx="1706880" cy="777240"/>
          </a:xfrm>
          <a:prstGeom prst="chevron">
            <a:avLst/>
          </a:prstGeom>
          <a:solidFill>
            <a:srgbClr val="1B2A4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906000" y="2103120"/>
            <a:ext cx="15361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1737360" y="3566160"/>
            <a:ext cx="868680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E1E5ED"/>
            </a:solidFill>
            <a:prstDash val="solid"/>
          </a:ln>
          <a:effectLst>
            <a:outerShdw sx="100000" sy="100000" kx="0" ky="0" algn="bl" rotWithShape="0" blurRad="76200" dist="25400" dir="5400000">
              <a:srgbClr val="1B2230">
                <a:alpha val="12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2103120" y="3794760"/>
            <a:ext cx="7955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2000" b="1" dirty="0">
                <a:solidFill>
                  <a:srgbClr val="11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Chaining
</a:t>
            </a:r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Alih-alih satu prompt raksasa yang mencoba melakukan segalanya, tugas kompleks dipecah menjadi rantai prompt kecil yang lebih reliable — output tiap tahap menjadi input tahap berikutnya.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56692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Complex task  →  smaller, reliable tasks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2 — DI BALIK LAYAR MODEL BAHASA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11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Actually Happening Inside an LLM?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1183112" y="-548640"/>
            <a:ext cx="1828800" cy="1828800"/>
          </a:xfrm>
          <a:prstGeom prst="ellipse">
            <a:avLst/>
          </a:prstGeom>
          <a:solidFill>
            <a:srgbClr val="C9D6E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000232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20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914400" y="1828800"/>
            <a:ext cx="1934870" cy="731520"/>
          </a:xfrm>
          <a:prstGeom prst="chevron">
            <a:avLst/>
          </a:prstGeom>
          <a:solidFill>
            <a:srgbClr val="111A33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14400" y="1828800"/>
            <a:ext cx="174138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013862" y="1828800"/>
            <a:ext cx="1934870" cy="731520"/>
          </a:xfrm>
          <a:prstGeom prst="chevron">
            <a:avLst/>
          </a:prstGeom>
          <a:solidFill>
            <a:srgbClr val="1B2A4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013862" y="1828800"/>
            <a:ext cx="174138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113325" y="1828800"/>
            <a:ext cx="1934870" cy="731520"/>
          </a:xfrm>
          <a:prstGeom prst="chevron">
            <a:avLst/>
          </a:prstGeom>
          <a:solidFill>
            <a:srgbClr val="111A3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113325" y="1828800"/>
            <a:ext cx="174138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Probability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212787" y="1828800"/>
            <a:ext cx="1934870" cy="731520"/>
          </a:xfrm>
          <a:prstGeom prst="chevron">
            <a:avLst/>
          </a:prstGeom>
          <a:solidFill>
            <a:srgbClr val="1B2A4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212787" y="1828800"/>
            <a:ext cx="174138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Token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9312250" y="1828800"/>
            <a:ext cx="1934870" cy="731520"/>
          </a:xfrm>
          <a:prstGeom prst="chevron">
            <a:avLst/>
          </a:prstGeom>
          <a:solidFill>
            <a:srgbClr val="111A33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312250" y="1828800"/>
            <a:ext cx="174138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288036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bukan sekadar database yang “mencari jawaban” — ia adalah mesin prediksi token berikutnya, berulang-ulang, berdasarkan probabilitas.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608076" y="3703320"/>
            <a:ext cx="2606040" cy="1691640"/>
          </a:xfrm>
          <a:prstGeom prst="roundRect">
            <a:avLst>
              <a:gd name="adj" fmla="val 4324"/>
            </a:avLst>
          </a:prstGeom>
          <a:solidFill>
            <a:srgbClr val="111A33"/>
          </a:solidFill>
          <a:ln w="12700">
            <a:solidFill>
              <a:srgbClr val="E1E5ED"/>
            </a:solidFill>
            <a:prstDash val="solid"/>
          </a:ln>
          <a:effectLst>
            <a:outerShdw sx="100000" sy="100000" kx="0" ky="0" algn="bl" rotWithShape="0" blurRad="76200" dist="25400" dir="5400000">
              <a:srgbClr val="1B2230">
                <a:alpha val="12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745236" y="38404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Token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745236" y="4251960"/>
            <a:ext cx="2331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terkecil teks yang diproses model (kata/sub-kata).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3396996" y="3703320"/>
            <a:ext cx="2606040" cy="1691640"/>
          </a:xfrm>
          <a:prstGeom prst="roundRect">
            <a:avLst>
              <a:gd name="adj" fmla="val 4324"/>
            </a:avLst>
          </a:prstGeom>
          <a:solidFill>
            <a:srgbClr val="1B2A4A"/>
          </a:solidFill>
          <a:ln w="12700">
            <a:solidFill>
              <a:srgbClr val="E1E5ED"/>
            </a:solidFill>
            <a:prstDash val="solid"/>
          </a:ln>
          <a:effectLst>
            <a:outerShdw sx="100000" sy="100000" kx="0" ky="0" algn="bl" rotWithShape="0" blurRad="76200" dist="25400" dir="5400000">
              <a:srgbClr val="1B2230">
                <a:alpha val="12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3534156" y="38404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Probability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3534156" y="4251960"/>
            <a:ext cx="2331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Setiap token berikutnya punya peluang kemunculan.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185916" y="3703320"/>
            <a:ext cx="2606040" cy="1691640"/>
          </a:xfrm>
          <a:prstGeom prst="roundRect">
            <a:avLst>
              <a:gd name="adj" fmla="val 4324"/>
            </a:avLst>
          </a:prstGeom>
          <a:solidFill>
            <a:srgbClr val="111A33"/>
          </a:solidFill>
          <a:ln w="12700">
            <a:solidFill>
              <a:srgbClr val="E1E5ED"/>
            </a:solidFill>
            <a:prstDash val="solid"/>
          </a:ln>
          <a:effectLst>
            <a:outerShdw sx="100000" sy="100000" kx="0" ky="0" algn="bl" rotWithShape="0" blurRad="76200" dist="25400" dir="5400000">
              <a:srgbClr val="1B2230">
                <a:alpha val="12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6323076" y="38404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6323076" y="4251960"/>
            <a:ext cx="2331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Rangkaian token sebelumnya yang memengaruhi prediksi.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8974836" y="3703320"/>
            <a:ext cx="2606040" cy="1691640"/>
          </a:xfrm>
          <a:prstGeom prst="roundRect">
            <a:avLst>
              <a:gd name="adj" fmla="val 4324"/>
            </a:avLst>
          </a:prstGeom>
          <a:solidFill>
            <a:srgbClr val="1B2A4A"/>
          </a:solidFill>
          <a:ln w="12700">
            <a:solidFill>
              <a:srgbClr val="E1E5ED"/>
            </a:solidFill>
            <a:prstDash val="solid"/>
          </a:ln>
          <a:effectLst>
            <a:outerShdw sx="100000" sy="100000" kx="0" ky="0" algn="bl" rotWithShape="0" blurRad="76200" dist="25400" dir="5400000">
              <a:srgbClr val="1B2230">
                <a:alpha val="12000"/>
              </a:srgbClr>
            </a:outerShdw>
          </a:effectLst>
        </p:spPr>
      </p:sp>
      <p:sp>
        <p:nvSpPr>
          <p:cNvPr id="27" name="Text 25"/>
          <p:cNvSpPr txBox="1"/>
          <p:nvPr/>
        </p:nvSpPr>
        <p:spPr>
          <a:xfrm>
            <a:off x="9111996" y="38404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Temperature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9111996" y="4251960"/>
            <a:ext cx="2331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 yang mengatur seberapa “berani” model memilih token.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2 — MAKNA BERGANTUNG PADA KONTEKS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11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 Changes Everything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1183112" y="-548640"/>
            <a:ext cx="1828800" cy="1828800"/>
          </a:xfrm>
          <a:prstGeom prst="ellipse">
            <a:avLst/>
          </a:prstGeom>
          <a:solidFill>
            <a:srgbClr val="C9D6E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000232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20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22960" y="1691640"/>
            <a:ext cx="493776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1E5ED"/>
            </a:solidFill>
            <a:prstDash val="solid"/>
          </a:ln>
          <a:effectLst>
            <a:outerShdw sx="100000" sy="100000" kx="0" ky="0" algn="bl" rotWithShape="0" blurRad="76200" dist="25400" dir="5400000">
              <a:srgbClr val="1B2230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822960" y="182880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11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“Apple”</a:t>
            </a:r>
            <a:endParaRPr lang="en-US" sz="3200" dirty="0"/>
          </a:p>
        </p:txBody>
      </p:sp>
      <p:sp>
        <p:nvSpPr>
          <p:cNvPr id="8" name="Text 6"/>
          <p:cNvSpPr txBox="1"/>
          <p:nvPr/>
        </p:nvSpPr>
        <p:spPr>
          <a:xfrm>
            <a:off x="1188720" y="2606040"/>
            <a:ext cx="4206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2000" b="1" dirty="0">
                <a:solidFill>
                  <a:srgbClr val="2E7D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</a:t>
            </a:r>
            <a:pPr algn="ctr" indent="0" marL="0">
              <a:lnSpc>
                <a:spcPct val="150000"/>
              </a:lnSpc>
              <a:buNone/>
            </a:pPr>
            <a:r>
              <a:rPr lang="en-US" sz="2000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fruit
</a:t>
            </a:r>
            <a:pPr algn="ctr" indent="0" marL="0">
              <a:lnSpc>
                <a:spcPct val="150000"/>
              </a:lnSpc>
              <a:buNone/>
            </a:pPr>
            <a:r>
              <a:rPr lang="en-US" sz="2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</a:t>
            </a:r>
            <a:pPr algn="ctr" indent="0" marL="0">
              <a:lnSpc>
                <a:spcPct val="150000"/>
              </a:lnSpc>
              <a:buNone/>
            </a:pPr>
            <a:r>
              <a:rPr lang="en-US" sz="2000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company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6400800" y="1691640"/>
            <a:ext cx="5239512" cy="2286000"/>
          </a:xfrm>
          <a:prstGeom prst="roundRect">
            <a:avLst>
              <a:gd name="adj" fmla="val 3200"/>
            </a:avLst>
          </a:prstGeom>
          <a:solidFill>
            <a:srgbClr val="111A33"/>
          </a:solidFill>
          <a:ln w="12700">
            <a:solidFill>
              <a:srgbClr val="E1E5ED"/>
            </a:solidFill>
            <a:prstDash val="solid"/>
          </a:ln>
          <a:effectLst>
            <a:outerShdw sx="100000" sy="100000" kx="0" ky="0" algn="bl" rotWithShape="0" blurRad="76200" dist="25400" dir="5400000">
              <a:srgbClr val="1B2230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6675120" y="1965960"/>
            <a:ext cx="47548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20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Same token.</a:t>
            </a:r>
            <a:endParaRPr lang="en-US" sz="20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20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Different context.</a:t>
            </a:r>
            <a:endParaRPr lang="en-US" sz="20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20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Different interpretation.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45720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11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Prompt  +  Conversation  +  Examples  +  Documents  +  Tools  =  Context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1188720" y="5257800"/>
            <a:ext cx="9784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5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hanyalah salah satu lapisan dari konteks yang jauh lebih besar yang dilihat model pada setiap giliran percakapan.</a:t>
            </a:r>
            <a:endParaRPr lang="en-US" sz="13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6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5 — RETRIEVAL-AUGMENTED GENERATION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11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Give AI External Knowledge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1183112" y="-548640"/>
            <a:ext cx="1828800" cy="1828800"/>
          </a:xfrm>
          <a:prstGeom prst="ellipse">
            <a:avLst/>
          </a:prstGeom>
          <a:solidFill>
            <a:srgbClr val="C9D6E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000232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20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874520"/>
            <a:ext cx="1706880" cy="731520"/>
          </a:xfrm>
          <a:prstGeom prst="chevron">
            <a:avLst/>
          </a:prstGeom>
          <a:solidFill>
            <a:srgbClr val="111A33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1874520"/>
            <a:ext cx="15361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420112" y="1874520"/>
            <a:ext cx="1706880" cy="731520"/>
          </a:xfrm>
          <a:prstGeom prst="chevron">
            <a:avLst/>
          </a:prstGeom>
          <a:solidFill>
            <a:srgbClr val="1B2A4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2420112" y="1874520"/>
            <a:ext cx="15361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291584" y="1874520"/>
            <a:ext cx="1706880" cy="731520"/>
          </a:xfrm>
          <a:prstGeom prst="chevron">
            <a:avLst/>
          </a:prstGeom>
          <a:solidFill>
            <a:srgbClr val="111A3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291584" y="1874520"/>
            <a:ext cx="15361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63056" y="1874520"/>
            <a:ext cx="1706880" cy="731520"/>
          </a:xfrm>
          <a:prstGeom prst="chevron">
            <a:avLst/>
          </a:prstGeom>
          <a:solidFill>
            <a:srgbClr val="1B2A4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163056" y="1874520"/>
            <a:ext cx="15361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034528" y="1874520"/>
            <a:ext cx="1706880" cy="731520"/>
          </a:xfrm>
          <a:prstGeom prst="chevron">
            <a:avLst/>
          </a:prstGeom>
          <a:solidFill>
            <a:srgbClr val="111A33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034528" y="1874520"/>
            <a:ext cx="15361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906000" y="1874520"/>
            <a:ext cx="1706880" cy="731520"/>
          </a:xfrm>
          <a:prstGeom prst="chevron">
            <a:avLst/>
          </a:prstGeom>
          <a:solidFill>
            <a:srgbClr val="1B2A4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906000" y="1874520"/>
            <a:ext cx="15361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08076" y="3063240"/>
            <a:ext cx="260604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E1E5ED"/>
            </a:solidFill>
            <a:prstDash val="solid"/>
          </a:ln>
          <a:effectLst>
            <a:outerShdw sx="100000" sy="100000" kx="0" ky="0" algn="bl" rotWithShape="0" blurRad="76200" dist="25400" dir="5400000">
              <a:srgbClr val="1B2230">
                <a:alpha val="12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608076" y="3063240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3396996" y="3063240"/>
            <a:ext cx="260604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E1E5ED"/>
            </a:solidFill>
            <a:prstDash val="solid"/>
          </a:ln>
          <a:effectLst>
            <a:outerShdw sx="100000" sy="100000" kx="0" ky="0" algn="bl" rotWithShape="0" blurRad="76200" dist="25400" dir="5400000">
              <a:srgbClr val="1B2230">
                <a:alpha val="12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3396996" y="3063240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Pinecone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185916" y="3063240"/>
            <a:ext cx="260604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E1E5ED"/>
            </a:solidFill>
            <a:prstDash val="solid"/>
          </a:ln>
          <a:effectLst>
            <a:outerShdw sx="100000" sy="100000" kx="0" ky="0" algn="bl" rotWithShape="0" blurRad="76200" dist="25400" dir="5400000">
              <a:srgbClr val="1B2230">
                <a:alpha val="12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6185916" y="3063240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8974836" y="3063240"/>
            <a:ext cx="260604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E1E5ED"/>
            </a:solidFill>
            <a:prstDash val="solid"/>
          </a:ln>
          <a:effectLst>
            <a:outerShdw sx="100000" sy="100000" kx="0" ky="0" algn="bl" rotWithShape="0" blurRad="76200" dist="25400" dir="5400000">
              <a:srgbClr val="1B2230">
                <a:alpha val="12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8974836" y="3063240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Similarity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1463040" y="4160520"/>
            <a:ext cx="9235440" cy="1554480"/>
          </a:xfrm>
          <a:prstGeom prst="roundRect">
            <a:avLst>
              <a:gd name="adj" fmla="val 4706"/>
            </a:avLst>
          </a:prstGeom>
          <a:solidFill>
            <a:srgbClr val="1B2A4A"/>
          </a:solidFill>
          <a:ln w="12700">
            <a:solidFill>
              <a:srgbClr val="E1E5ED"/>
            </a:solidFill>
            <a:prstDash val="solid"/>
          </a:ln>
          <a:effectLst>
            <a:outerShdw sx="100000" sy="100000" kx="0" ky="0" algn="bl" rotWithShape="0" blurRad="76200" dist="25400" dir="5400000">
              <a:srgbClr val="1B2230">
                <a:alpha val="12000"/>
              </a:srgbClr>
            </a:outerShdw>
          </a:effectLst>
        </p:spPr>
      </p:sp>
      <p:sp>
        <p:nvSpPr>
          <p:cNvPr id="27" name="Text 25"/>
          <p:cNvSpPr txBox="1"/>
          <p:nvPr/>
        </p:nvSpPr>
        <p:spPr>
          <a:xfrm>
            <a:off x="1737360" y="4343400"/>
            <a:ext cx="8686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(Retrieval-Augmented Generation)  </a:t>
            </a:r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memungkinkan LLM “membaca” dokumen eksternal secara real-time saat menjawab, alih-alih hanya mengandalkan pengetahuan statis dari data pelatihannya.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6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5 + CONTEMPORARY DEVELOPMENT 2026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11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RAG Changes the Question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1183112" y="-548640"/>
            <a:ext cx="1828800" cy="1828800"/>
          </a:xfrm>
          <a:prstGeom prst="ellipse">
            <a:avLst/>
          </a:prstGeom>
          <a:solidFill>
            <a:srgbClr val="C9D6E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000232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20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521208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1E5ED"/>
            </a:solidFill>
            <a:prstDash val="solid"/>
          </a:ln>
          <a:effectLst>
            <a:outerShdw sx="100000" sy="100000" kx="0" ky="0" algn="bl" rotWithShape="0" blurRad="76200" dist="25400" dir="5400000">
              <a:srgbClr val="1B2230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822960" y="1828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LLM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14884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111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“Does the model know?”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6355080" y="1691640"/>
            <a:ext cx="5285232" cy="1188720"/>
          </a:xfrm>
          <a:prstGeom prst="roundRect">
            <a:avLst>
              <a:gd name="adj" fmla="val 6154"/>
            </a:avLst>
          </a:prstGeom>
          <a:solidFill>
            <a:srgbClr val="111A33"/>
          </a:solidFill>
          <a:ln w="12700">
            <a:solidFill>
              <a:srgbClr val="E1E5ED"/>
            </a:solidFill>
            <a:prstDash val="solid"/>
          </a:ln>
          <a:effectLst>
            <a:outerShdw sx="100000" sy="100000" kx="0" ky="0" algn="bl" rotWithShape="0" blurRad="76200" dist="25400" dir="5400000">
              <a:srgbClr val="1B2230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6629400" y="1828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6629400" y="214884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“Can the system retrieve?”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548640" y="3200400"/>
            <a:ext cx="2081174" cy="731520"/>
          </a:xfrm>
          <a:prstGeom prst="chevron">
            <a:avLst/>
          </a:prstGeom>
          <a:solidFill>
            <a:srgbClr val="111A33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3200400"/>
            <a:ext cx="187305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2794406" y="3200400"/>
            <a:ext cx="2081174" cy="731520"/>
          </a:xfrm>
          <a:prstGeom prst="chevron">
            <a:avLst/>
          </a:prstGeom>
          <a:solidFill>
            <a:srgbClr val="1B2A4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2794406" y="3200400"/>
            <a:ext cx="187305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Retriever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040173" y="3200400"/>
            <a:ext cx="2081174" cy="731520"/>
          </a:xfrm>
          <a:prstGeom prst="chevron">
            <a:avLst/>
          </a:prstGeom>
          <a:solidFill>
            <a:srgbClr val="111A33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040173" y="3200400"/>
            <a:ext cx="187305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Relevant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7285939" y="3200400"/>
            <a:ext cx="2081174" cy="731520"/>
          </a:xfrm>
          <a:prstGeom prst="chevron">
            <a:avLst/>
          </a:prstGeom>
          <a:solidFill>
            <a:srgbClr val="1B2A4A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285939" y="3200400"/>
            <a:ext cx="187305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9531706" y="3200400"/>
            <a:ext cx="2081174" cy="731520"/>
          </a:xfrm>
          <a:prstGeom prst="chevron">
            <a:avLst/>
          </a:prstGeom>
          <a:solidFill>
            <a:srgbClr val="111A33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531706" y="3200400"/>
            <a:ext cx="187305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48640" y="4343400"/>
            <a:ext cx="11091672" cy="1874520"/>
          </a:xfrm>
          <a:prstGeom prst="roundRect">
            <a:avLst>
              <a:gd name="adj" fmla="val 3902"/>
            </a:avLst>
          </a:prstGeom>
          <a:solidFill>
            <a:srgbClr val="1B2A4A"/>
          </a:solidFill>
          <a:ln w="12700">
            <a:solidFill>
              <a:srgbClr val="E1E5ED"/>
            </a:solidFill>
            <a:prstDash val="solid"/>
          </a:ln>
          <a:effectLst>
            <a:outerShdw sx="100000" sy="100000" kx="0" ky="0" algn="bl" rotWithShape="0" blurRad="76200" dist="25400" dir="5400000">
              <a:srgbClr val="1B2230">
                <a:alpha val="12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822960" y="44805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UPDATE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822960" y="4754880"/>
            <a:ext cx="10515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RAG menjadi pola dominan 2026: agen memutuskan kapan, apa, dan bagaimana melakukan retrieval — bukan lagi satu kali retrieve-then-generate.</a:t>
            </a:r>
            <a:endParaRPr lang="en-US" sz="135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enterprise kini menuntut governance: kontrol akses, metadata, dan audit trail sebelum retrieval terjadi.</a:t>
            </a:r>
            <a:endParaRPr lang="en-US" sz="13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6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6 + CONTEMPORARY DEVELOPMENT 2026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11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Chatbot to Agent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1183112" y="-548640"/>
            <a:ext cx="1828800" cy="1828800"/>
          </a:xfrm>
          <a:prstGeom prst="ellipse">
            <a:avLst/>
          </a:prstGeom>
          <a:solidFill>
            <a:srgbClr val="C9D6E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000232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20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3291840" cy="356616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E1E5ED"/>
            </a:solidFill>
            <a:prstDash val="solid"/>
          </a:ln>
          <a:effectLst>
            <a:outerShdw sx="100000" sy="100000" kx="0" ky="0" algn="bl" rotWithShape="0" blurRad="76200" dist="25400" dir="5400000">
              <a:srgbClr val="1B2230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822960" y="18745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22960" y="2331720"/>
            <a:ext cx="2743200" cy="685800"/>
          </a:xfrm>
          <a:prstGeom prst="roundRect">
            <a:avLst>
              <a:gd name="adj" fmla="val 10667"/>
            </a:avLst>
          </a:prstGeom>
          <a:solidFill>
            <a:srgbClr val="1B2A4A"/>
          </a:solidFill>
          <a:ln w="12700">
            <a:solidFill>
              <a:srgbClr val="E1E5E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233172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22960" y="3291840"/>
            <a:ext cx="2743200" cy="685800"/>
          </a:xfrm>
          <a:prstGeom prst="roundRect">
            <a:avLst>
              <a:gd name="adj" fmla="val 10667"/>
            </a:avLst>
          </a:prstGeom>
          <a:solidFill>
            <a:srgbClr val="111A33"/>
          </a:solidFill>
          <a:ln w="12700">
            <a:solidFill>
              <a:srgbClr val="E1E5E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2960" y="329184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114800" y="1691640"/>
            <a:ext cx="7525512" cy="3566160"/>
          </a:xfrm>
          <a:prstGeom prst="roundRect">
            <a:avLst>
              <a:gd name="adj" fmla="val 2051"/>
            </a:avLst>
          </a:prstGeom>
          <a:solidFill>
            <a:srgbClr val="111A33"/>
          </a:solidFill>
          <a:ln w="12700">
            <a:solidFill>
              <a:srgbClr val="E1E5ED"/>
            </a:solidFill>
            <a:prstDash val="solid"/>
          </a:ln>
          <a:effectLst>
            <a:outerShdw sx="100000" sy="100000" kx="0" ky="0" algn="bl" rotWithShape="0" blurRad="76200" dist="25400" dir="5400000">
              <a:srgbClr val="1B2230">
                <a:alpha val="12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4434840" y="18745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434840" y="2377440"/>
            <a:ext cx="1600200" cy="594360"/>
          </a:xfrm>
          <a:prstGeom prst="roundRect">
            <a:avLst>
              <a:gd name="adj" fmla="val 12308"/>
            </a:avLst>
          </a:prstGeom>
          <a:solidFill>
            <a:srgbClr val="1B2A4A"/>
          </a:solidFill>
          <a:ln w="12700">
            <a:solidFill>
              <a:srgbClr val="E1E5E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434840" y="2377440"/>
            <a:ext cx="160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126480" y="2377440"/>
            <a:ext cx="1600200" cy="594360"/>
          </a:xfrm>
          <a:prstGeom prst="roundRect">
            <a:avLst>
              <a:gd name="adj" fmla="val 12308"/>
            </a:avLst>
          </a:prstGeom>
          <a:solidFill>
            <a:srgbClr val="1B2A4A"/>
          </a:solidFill>
          <a:ln w="12700">
            <a:solidFill>
              <a:srgbClr val="E1E5E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126480" y="2377440"/>
            <a:ext cx="160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818120" y="2377440"/>
            <a:ext cx="1600200" cy="594360"/>
          </a:xfrm>
          <a:prstGeom prst="roundRect">
            <a:avLst>
              <a:gd name="adj" fmla="val 12308"/>
            </a:avLst>
          </a:prstGeom>
          <a:solidFill>
            <a:srgbClr val="1B2A4A"/>
          </a:solidFill>
          <a:ln w="12700">
            <a:solidFill>
              <a:srgbClr val="E1E5ED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818120" y="2377440"/>
            <a:ext cx="160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9509760" y="2377440"/>
            <a:ext cx="1600200" cy="594360"/>
          </a:xfrm>
          <a:prstGeom prst="roundRect">
            <a:avLst>
              <a:gd name="adj" fmla="val 12308"/>
            </a:avLst>
          </a:prstGeom>
          <a:solidFill>
            <a:srgbClr val="1B2A4A"/>
          </a:solidFill>
          <a:ln w="12700">
            <a:solidFill>
              <a:srgbClr val="E1E5ED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509760" y="2377440"/>
            <a:ext cx="160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434840" y="3108960"/>
            <a:ext cx="1600200" cy="594360"/>
          </a:xfrm>
          <a:prstGeom prst="roundRect">
            <a:avLst>
              <a:gd name="adj" fmla="val 12308"/>
            </a:avLst>
          </a:prstGeom>
          <a:solidFill>
            <a:srgbClr val="1B2A4A"/>
          </a:solidFill>
          <a:ln w="12700">
            <a:solidFill>
              <a:srgbClr val="E1E5ED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434840" y="3108960"/>
            <a:ext cx="160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126480" y="3108960"/>
            <a:ext cx="1600200" cy="594360"/>
          </a:xfrm>
          <a:prstGeom prst="roundRect">
            <a:avLst>
              <a:gd name="adj" fmla="val 12308"/>
            </a:avLst>
          </a:prstGeom>
          <a:solidFill>
            <a:srgbClr val="1B2A4A"/>
          </a:solidFill>
          <a:ln w="12700">
            <a:solidFill>
              <a:srgbClr val="E1E5ED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126480" y="3108960"/>
            <a:ext cx="160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7818120" y="3108960"/>
            <a:ext cx="1600200" cy="594360"/>
          </a:xfrm>
          <a:prstGeom prst="roundRect">
            <a:avLst>
              <a:gd name="adj" fmla="val 12308"/>
            </a:avLst>
          </a:prstGeom>
          <a:solidFill>
            <a:srgbClr val="1B2A4A"/>
          </a:solidFill>
          <a:ln w="12700">
            <a:solidFill>
              <a:srgbClr val="E1E5ED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818120" y="3108960"/>
            <a:ext cx="160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48640" y="5394960"/>
            <a:ext cx="11091672" cy="914400"/>
          </a:xfrm>
          <a:prstGeom prst="roundRect">
            <a:avLst>
              <a:gd name="adj" fmla="val 8000"/>
            </a:avLst>
          </a:prstGeom>
          <a:solidFill>
            <a:srgbClr val="F6F7FA"/>
          </a:solidFill>
          <a:ln w="12700">
            <a:solidFill>
              <a:srgbClr val="E1E5ED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22960" y="548640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11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UPDATE — Stanford AI Index &amp; OSWorld 2026: agen kini menyelesaikan ~66% tugas komputer kompleks (“jagged frontier”) — sangat maju di tugas terstruktur pendek, namun performa anjlok drastis pada alur kerja panjang lintas-aplikasi di dunia nyata.</a:t>
            </a:r>
            <a:endParaRPr lang="en-US" sz="12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11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UPDATE — PERKEMBANGAN PASCA-TERBIT BUKU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07899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Prompt Engineering Is Becoming</a:t>
            </a:r>
            <a:endParaRPr lang="en-US" sz="34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 Engineering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9811512" y="4480560"/>
            <a:ext cx="3108960" cy="310896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5486400"/>
            <a:ext cx="1005840" cy="1005840"/>
          </a:xfrm>
          <a:prstGeom prst="ellipse">
            <a:avLst/>
          </a:prstGeom>
          <a:ln w="19050">
            <a:solidFill>
              <a:srgbClr val="C9A22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1000232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20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08076" y="265176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C9A22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45236" y="283464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11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Prompt Engineering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745236" y="356616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i="1" dirty="0">
                <a:solidFill>
                  <a:srgbClr val="3A33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the instruction.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32404" y="3419856"/>
            <a:ext cx="146304" cy="201168"/>
          </a:xfrm>
          <a:prstGeom prst="rightArrow">
            <a:avLst/>
          </a:prstGeom>
          <a:solidFill>
            <a:srgbClr val="8FA6C4"/>
          </a:solidFill>
          <a:ln/>
        </p:spPr>
      </p:sp>
      <p:sp>
        <p:nvSpPr>
          <p:cNvPr id="11" name="Shape 9"/>
          <p:cNvSpPr/>
          <p:nvPr/>
        </p:nvSpPr>
        <p:spPr>
          <a:xfrm>
            <a:off x="3396996" y="265176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1B2A4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534156" y="283464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 Engineering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3534156" y="356616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i="1" dirty="0">
                <a:solidFill>
                  <a:srgbClr val="C9D6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the information environment.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021324" y="3419856"/>
            <a:ext cx="146304" cy="201168"/>
          </a:xfrm>
          <a:prstGeom prst="rightArrow">
            <a:avLst/>
          </a:prstGeom>
          <a:solidFill>
            <a:srgbClr val="8FA6C4"/>
          </a:solidFill>
          <a:ln/>
        </p:spPr>
      </p:sp>
      <p:sp>
        <p:nvSpPr>
          <p:cNvPr id="15" name="Shape 13"/>
          <p:cNvSpPr/>
          <p:nvPr/>
        </p:nvSpPr>
        <p:spPr>
          <a:xfrm>
            <a:off x="6185916" y="265176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1B2A4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323076" y="283464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 Engineering</a:t>
            </a:r>
            <a:endParaRPr lang="en-US" sz="1450" dirty="0"/>
          </a:p>
        </p:txBody>
      </p:sp>
      <p:sp>
        <p:nvSpPr>
          <p:cNvPr id="17" name="Text 15"/>
          <p:cNvSpPr txBox="1"/>
          <p:nvPr/>
        </p:nvSpPr>
        <p:spPr>
          <a:xfrm>
            <a:off x="6323076" y="356616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i="1" dirty="0">
                <a:solidFill>
                  <a:srgbClr val="C9D6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the decision / action loop.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810244" y="3419856"/>
            <a:ext cx="146304" cy="201168"/>
          </a:xfrm>
          <a:prstGeom prst="rightArrow">
            <a:avLst/>
          </a:prstGeom>
          <a:solidFill>
            <a:srgbClr val="8FA6C4"/>
          </a:solidFill>
          <a:ln/>
        </p:spPr>
      </p:sp>
      <p:sp>
        <p:nvSpPr>
          <p:cNvPr id="19" name="Shape 17"/>
          <p:cNvSpPr/>
          <p:nvPr/>
        </p:nvSpPr>
        <p:spPr>
          <a:xfrm>
            <a:off x="8974836" y="265176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1B2A4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9111996" y="283464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Engineering</a:t>
            </a:r>
            <a:endParaRPr lang="en-US" sz="1450" dirty="0"/>
          </a:p>
        </p:txBody>
      </p:sp>
      <p:sp>
        <p:nvSpPr>
          <p:cNvPr id="21" name="Text 19"/>
          <p:cNvSpPr txBox="1"/>
          <p:nvPr/>
        </p:nvSpPr>
        <p:spPr>
          <a:xfrm>
            <a:off x="9111996" y="356616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i="1" dirty="0">
                <a:solidFill>
                  <a:srgbClr val="C9D6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the reliable architecture.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822960" y="47548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20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“Prompt engineering is becoming one layer of a larger AI engineering discipline.”</a:t>
            </a:r>
            <a:endParaRPr lang="en-US" sz="2000" dirty="0"/>
          </a:p>
        </p:txBody>
      </p:sp>
      <p:sp>
        <p:nvSpPr>
          <p:cNvPr id="23" name="Text 21"/>
          <p:cNvSpPr txBox="1"/>
          <p:nvPr/>
        </p:nvSpPr>
        <p:spPr>
          <a:xfrm>
            <a:off x="822960" y="57607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Sumber pembanding: riset context engineering 2026 (Neo4j, arXiv 2604.04258, jobsbyculture) — bukan klaim dari buku sumber.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6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10 + CONTEMPORARY DEVELOPMENT 2026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11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Prompt to AI-Powered Application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1183112" y="-548640"/>
            <a:ext cx="1828800" cy="1828800"/>
          </a:xfrm>
          <a:prstGeom prst="ellipse">
            <a:avLst/>
          </a:prstGeom>
          <a:solidFill>
            <a:srgbClr val="C9D6E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000232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20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2081174" cy="658368"/>
          </a:xfrm>
          <a:prstGeom prst="chevron">
            <a:avLst/>
          </a:prstGeom>
          <a:solidFill>
            <a:srgbClr val="111A33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1783080"/>
            <a:ext cx="1873057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94406" y="1783080"/>
            <a:ext cx="2081174" cy="658368"/>
          </a:xfrm>
          <a:prstGeom prst="chevron">
            <a:avLst/>
          </a:prstGeom>
          <a:solidFill>
            <a:srgbClr val="1B2A4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2794406" y="1783080"/>
            <a:ext cx="1873057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040173" y="1783080"/>
            <a:ext cx="2081174" cy="658368"/>
          </a:xfrm>
          <a:prstGeom prst="chevron">
            <a:avLst/>
          </a:prstGeom>
          <a:solidFill>
            <a:srgbClr val="111A3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040173" y="1783080"/>
            <a:ext cx="1873057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285939" y="1783080"/>
            <a:ext cx="2081174" cy="658368"/>
          </a:xfrm>
          <a:prstGeom prst="chevron">
            <a:avLst/>
          </a:prstGeom>
          <a:solidFill>
            <a:srgbClr val="1B2A4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285939" y="1783080"/>
            <a:ext cx="1873057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531706" y="1783080"/>
            <a:ext cx="2081174" cy="658368"/>
          </a:xfrm>
          <a:prstGeom prst="chevron">
            <a:avLst/>
          </a:prstGeom>
          <a:solidFill>
            <a:srgbClr val="111A33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531706" y="1783080"/>
            <a:ext cx="1873057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2697480"/>
            <a:ext cx="2081174" cy="658368"/>
          </a:xfrm>
          <a:prstGeom prst="chevron">
            <a:avLst/>
          </a:prstGeom>
          <a:solidFill>
            <a:srgbClr val="1B2A4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2697480"/>
            <a:ext cx="1873057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794406" y="2697480"/>
            <a:ext cx="2081174" cy="658368"/>
          </a:xfrm>
          <a:prstGeom prst="chevron">
            <a:avLst/>
          </a:prstGeom>
          <a:solidFill>
            <a:srgbClr val="111A33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2794406" y="2697480"/>
            <a:ext cx="1873057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040173" y="2697480"/>
            <a:ext cx="2081174" cy="658368"/>
          </a:xfrm>
          <a:prstGeom prst="chevron">
            <a:avLst/>
          </a:prstGeom>
          <a:solidFill>
            <a:srgbClr val="1B2A4A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040173" y="2697480"/>
            <a:ext cx="1873057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285939" y="2697480"/>
            <a:ext cx="2081174" cy="658368"/>
          </a:xfrm>
          <a:prstGeom prst="chevron">
            <a:avLst/>
          </a:prstGeom>
          <a:solidFill>
            <a:srgbClr val="111A33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285939" y="2697480"/>
            <a:ext cx="1873057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9531706" y="2697480"/>
            <a:ext cx="2081174" cy="658368"/>
          </a:xfrm>
          <a:prstGeom prst="chevron">
            <a:avLst/>
          </a:prstGeom>
          <a:solidFill>
            <a:srgbClr val="1B2A4A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9531706" y="2697480"/>
            <a:ext cx="1873057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943600" y="2487168"/>
            <a:ext cx="256032" cy="182880"/>
          </a:xfrm>
          <a:prstGeom prst="downArrow">
            <a:avLst/>
          </a:prstGeom>
          <a:solidFill>
            <a:srgbClr val="C9A227"/>
          </a:solidFill>
          <a:ln/>
        </p:spPr>
      </p:sp>
      <p:sp>
        <p:nvSpPr>
          <p:cNvPr id="27" name="Shape 25"/>
          <p:cNvSpPr/>
          <p:nvPr/>
        </p:nvSpPr>
        <p:spPr>
          <a:xfrm>
            <a:off x="548640" y="3749040"/>
            <a:ext cx="11091672" cy="2423160"/>
          </a:xfrm>
          <a:prstGeom prst="roundRect">
            <a:avLst>
              <a:gd name="adj" fmla="val 3019"/>
            </a:avLst>
          </a:prstGeom>
          <a:solidFill>
            <a:srgbClr val="111A33"/>
          </a:solidFill>
          <a:ln w="12700">
            <a:solidFill>
              <a:srgbClr val="E1E5ED"/>
            </a:solidFill>
            <a:prstDash val="solid"/>
          </a:ln>
          <a:effectLst>
            <a:outerShdw sx="100000" sy="100000" kx="0" ky="0" algn="bl" rotWithShape="0" blurRad="76200" dist="25400" dir="5400000">
              <a:srgbClr val="1B2230">
                <a:alpha val="12000"/>
              </a:srgbClr>
            </a:outerShdw>
          </a:effectLst>
        </p:spPr>
      </p:sp>
      <p:sp>
        <p:nvSpPr>
          <p:cNvPr id="28" name="Text 26"/>
          <p:cNvSpPr txBox="1"/>
          <p:nvPr/>
        </p:nvSpPr>
        <p:spPr>
          <a:xfrm>
            <a:off x="822960" y="3886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UPDATE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822960" y="4206240"/>
            <a:ext cx="10515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applications semakin bergerak dari chat interface menuju agentic workflows — bukan lagi sekadar tanya-jawab.</a:t>
            </a:r>
            <a:endParaRPr lang="en-US" sz="13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Stanford AI Index 2026: adopsi organisasi terhadap AI mencapai 88%; performa benchmark coding (SWE-bench Verified) melonjak dari ~60% menjadi mendekati 100% dalam setahun.</a:t>
            </a:r>
            <a:endParaRPr lang="en-US" sz="13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Konsumen tetap diuntungkan signifikan: surplus konsumen AI generatif AS naik dari sekitar $116 miliar menjadi $172 miliar (2024–2025).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11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PENUTUP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789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Don’t Learn Prompts.</a:t>
            </a:r>
            <a:endParaRPr lang="en-US" sz="38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 to Design AI Systems.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9811512" y="4480560"/>
            <a:ext cx="3108960" cy="310896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5486400"/>
            <a:ext cx="1005840" cy="1005840"/>
          </a:xfrm>
          <a:prstGeom prst="ellipse">
            <a:avLst/>
          </a:prstGeom>
          <a:ln w="19050">
            <a:solidFill>
              <a:srgbClr val="C9A22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1000232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20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5146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Prompt  +  Context  +  Data  +  Tools  +  Evaluation  +  Human Judgment  =  Reliable AI System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188720" y="3337560"/>
            <a:ext cx="9784080" cy="1737360"/>
          </a:xfrm>
          <a:prstGeom prst="roundRect">
            <a:avLst>
              <a:gd name="adj" fmla="val 4211"/>
            </a:avLst>
          </a:prstGeom>
          <a:solidFill>
            <a:srgbClr val="1B2A4A"/>
          </a:solidFill>
          <a:ln w="12700">
            <a:solidFill>
              <a:srgbClr val="E1E5E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554480" y="3520440"/>
            <a:ext cx="9052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55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“Orang yang paling siap menghadapi era AI bukan mereka yang menghafal paling banyak prompt.</a:t>
            </a:r>
            <a:endParaRPr lang="en-US" sz="1550" dirty="0"/>
          </a:p>
          <a:p>
            <a:pPr algn="ctr" indent="0" marL="0">
              <a:lnSpc>
                <a:spcPct val="130000"/>
              </a:lnSpc>
              <a:buNone/>
            </a:pPr>
            <a:endParaRPr lang="en-US" sz="15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55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Tetapi mereka yang memahami bagaimana manusia, data, model, context, tools, dan evaluation bekerja sebagai satu sistem.”</a:t>
            </a:r>
            <a:endParaRPr lang="en-US" sz="155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53492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“If AI can generate the answer, what should humans learn to design?”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2026-09-01T02:39:15Z</dcterms:created>
  <dcterms:modified xsi:type="dcterms:W3CDTF">2026-09-01T02:39:15Z</dcterms:modified>
</cp:coreProperties>
</file>